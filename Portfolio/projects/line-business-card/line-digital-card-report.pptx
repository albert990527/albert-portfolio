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1a5yv6vVfY0E8WN8EwZfbCJl4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開場：這份報告總結「賴哩來」數位名片系統從第一版到第四版的完整成果。10 到 15 分鐘，會先講架構與流程，再講重寫的原因、LINE 整合，最後是已知落差與後續規劃。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專案要解決的事：讓使用者在網頁上填一張數位名片，產生一個公開網址，並且能直接透過 LINE 官方帳號把名片傳進聊天室。我們有提供了三種版型</a:t>
            </a:r>
            <a:endParaRPr/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產品定位一句話是「一鍵切換網頁與 LINE，三分鐘打造你的數位分身」。目標使用者是業務、個人創業者與斜槓族，有三個價值主張：免下載免安裝、一鍵進入聊天室。商業策略上本期完全免費，搶先拿到user</a:t>
            </a:r>
            <a:r>
              <a:rPr lang="en-US" sz="1200">
                <a:solidFill>
                  <a:schemeClr val="dk1"/>
                </a:solidFill>
              </a:rPr>
              <a:t>擴大使用者基數搶佔市佔率</a:t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3項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痛點紙本名片</a:t>
            </a:r>
            <a:r>
              <a:rPr lang="en-US" sz="1200">
                <a:solidFill>
                  <a:schemeClr val="dk1"/>
                </a:solidFill>
              </a:rPr>
              <a:t>攜帶很不便而且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資訊</a:t>
            </a:r>
            <a:r>
              <a:rPr lang="en-US" sz="1200">
                <a:solidFill>
                  <a:schemeClr val="dk1"/>
                </a:solidFill>
              </a:rPr>
              <a:t>更改的話全方報廢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對方</a:t>
            </a:r>
            <a:r>
              <a:rPr lang="en-US" sz="1200">
                <a:solidFill>
                  <a:schemeClr val="dk1"/>
                </a:solidFill>
              </a:rPr>
              <a:t>忘記懶得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輸入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所以留存率低。一般數位名片的介面很生硬看起來就是一張紙。LINE 原生工具的話官方帳號和記事本的版型則是完全固定，沒辦法</a:t>
            </a:r>
            <a:r>
              <a:rPr lang="en-US" sz="1200">
                <a:solidFill>
                  <a:schemeClr val="dk1"/>
                </a:solidFill>
              </a:rPr>
              <a:t>做出個人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風格</a:t>
            </a:r>
            <a:r>
              <a:rPr lang="en-US" sz="1200">
                <a:solidFill>
                  <a:schemeClr val="dk1"/>
                </a:solidFill>
              </a:rPr>
              <a:t>及差異性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。我們</a:t>
            </a:r>
            <a:r>
              <a:rPr lang="en-US" sz="1200">
                <a:solidFill>
                  <a:schemeClr val="dk1"/>
                </a:solidFill>
              </a:rPr>
              <a:t>針對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這三點對應後面的功能做設計。</a:t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使用時機決定了操作動線。線下場合需要大面積 QR Code 掃；線上會議與社群需要網址方便做傳送；LINE 群組需要的是能直接轉傳的 Flex Message。這三種場景我們都有對應的入口。</a:t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我們成功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做出來的六項核心功能：</a:t>
            </a:r>
            <a:r>
              <a:rPr lang="en-US" sz="1200">
                <a:solidFill>
                  <a:schemeClr val="dk1"/>
                </a:solidFill>
              </a:rPr>
              <a:t>名片基本管理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、即時預覽、版型、自訂個人連結 像是ig fb </a:t>
            </a:r>
            <a:r>
              <a:rPr lang="en-US" sz="1200">
                <a:solidFill>
                  <a:schemeClr val="dk1"/>
                </a:solidFill>
              </a:rPr>
              <a:t>linked能夠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、vCard匯出</a:t>
            </a:r>
            <a:r>
              <a:rPr lang="en-US" sz="1200">
                <a:solidFill>
                  <a:schemeClr val="dk1"/>
                </a:solidFill>
              </a:rPr>
              <a:t>一鍵存入通訊錄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、LINE 分享</a:t>
            </a:r>
            <a:r>
              <a:rPr lang="en-US" sz="1200">
                <a:solidFill>
                  <a:schemeClr val="dk1"/>
                </a:solidFill>
              </a:rPr>
              <a:t>整合 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專案分工</a:t>
            </a:r>
            <a:r>
              <a:rPr lang="en-US" sz="1200">
                <a:solidFill>
                  <a:schemeClr val="dk1"/>
                </a:solidFill>
              </a:rPr>
              <a:t>五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人小組</a:t>
            </a:r>
            <a:r>
              <a:rPr lang="en-US" sz="1200">
                <a:solidFill>
                  <a:schemeClr val="dk1"/>
                </a:solidFill>
              </a:rPr>
              <a:t> 分工的話分別是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 端登入、讀取與改寫資料、選版型、生成名片與網址、上傳 LINE。時程從 7/29 發想到 8/6 上線準備，中間三天是功能衝刺。</a:t>
            </a:r>
            <a:endParaRPr b="1"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架構四塊：前端部署在 Cloudflare Workers，是固定網址；後端 FastAPI 目前跑在本機，用 cloudflared 開通道對外；資料與圖片都放 Supabase，資料庫兩張表加一個 avatars bucket；LINE 這邊用 Messaging API 推播、LIFF 做網頁登入。要注意的是後端到外網那一段是虛線，代表它是暫時性的通道。</a:t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使用者流程五步 使用者登入</a:t>
            </a:r>
            <a:r>
              <a:rPr lang="en-US" sz="1200">
                <a:solidFill>
                  <a:schemeClr val="dk1"/>
                </a:solidFill>
              </a:rPr>
              <a:t>Line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填寫名片、填寫名片個人資料、儲存名片後、取得網址</a:t>
            </a:r>
            <a:r>
              <a:rPr lang="en-US" sz="1200">
                <a:solidFill>
                  <a:schemeClr val="dk1"/>
                </a:solidFill>
              </a:rPr>
              <a:t> 最後回傳給使用者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重點是第幾步一次 POST 就結束，不需多次呼叫。</a:t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這邊是：左邊是編輯器，右邊是手機上打開的公開名片頁。示範時建議直接開編輯器改一個欄位，讓大家看到即時預覽。</a:t>
            </a:r>
            <a:endParaRPr/>
          </a:p>
        </p:txBody>
      </p:sp>
      <p:sp>
        <p:nvSpPr>
          <p:cNvPr id="269" name="Google Shape;26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版型三種：classic、gold、minimal。除了版型，使用者還能自訂主色、名片底色與文字色、大頭照尺寸與形狀、直式或橫向。這些設定 v1 的資料庫放不下，是 v2 加欄位的主要原因之一。</a:t>
            </a:r>
            <a:endParaRPr/>
          </a:p>
        </p:txBody>
      </p:sp>
      <p:sp>
        <p:nvSpPr>
          <p:cNvPr id="282" name="Google Shape;28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這邊是我們的名片儲存格式檔</a:t>
            </a:r>
            <a:endParaRPr/>
          </a:p>
        </p:txBody>
      </p:sp>
      <p:sp>
        <p:nvSpPr>
          <p:cNvPr id="296" name="Google Shape;29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那這邊是我們的檔案外接LINE的儲存格式</a:t>
            </a:r>
            <a:endParaRPr/>
          </a:p>
        </p:txBody>
      </p:sp>
      <p:sp>
        <p:nvSpPr>
          <p:cNvPr id="358" name="Google Shape;35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這的話是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前端規格 重點是點擊行為設定像是點擊電話可直接撥號</a:t>
            </a:r>
            <a:r>
              <a:rPr lang="en-US" sz="1200">
                <a:solidFill>
                  <a:schemeClr val="dk1"/>
                </a:solidFill>
              </a:rPr>
              <a:t> 點擊住址可自動導入googlemap方便儲存</a:t>
            </a:r>
            <a:endParaRPr/>
          </a:p>
        </p:txBody>
      </p:sp>
      <p:sp>
        <p:nvSpPr>
          <p:cNvPr id="396" name="Google Shape;39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這一頁是安全</a:t>
            </a:r>
            <a:r>
              <a:rPr lang="en-US" sz="1200">
                <a:solidFill>
                  <a:schemeClr val="dk1"/>
                </a:solidFill>
              </a:rPr>
              <a:t>機制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r>
              <a:rPr lang="en-US" sz="1200">
                <a:solidFill>
                  <a:schemeClr val="dk1"/>
                </a:solidFill>
              </a:rPr>
              <a:t>導入編輯權</a:t>
            </a:r>
            <a:r>
              <a:rPr lang="en-US" sz="1200">
                <a:solidFill>
                  <a:schemeClr val="dk1"/>
                </a:solidFill>
              </a:rPr>
              <a:t>杖用來</a:t>
            </a:r>
            <a:r>
              <a:rPr lang="en-US" sz="1200">
                <a:solidFill>
                  <a:schemeClr val="dk1"/>
                </a:solidFill>
              </a:rPr>
              <a:t>防止未登入的惡意竄改</a:t>
            </a:r>
            <a:endParaRPr/>
          </a:p>
        </p:txBody>
      </p:sp>
      <p:sp>
        <p:nvSpPr>
          <p:cNvPr id="449" name="Google Shape;44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後段模組分工</a:t>
            </a:r>
            <a:r>
              <a:rPr lang="en-US"/>
              <a:t> </a:t>
            </a:r>
            <a:r>
              <a:rPr lang="en-US"/>
              <a:t>後端要連到前端跟數據庫 連結數據庫需要API 因此需要到環境變數裡設置金耀 這是AI無法達成的事</a:t>
            </a:r>
            <a:endParaRPr/>
          </a:p>
        </p:txBody>
      </p:sp>
      <p:sp>
        <p:nvSpPr>
          <p:cNvPr id="479" name="Google Shape;47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欄位對照與相容性策略 這是我們的系統的對照表</a:t>
            </a:r>
            <a:endParaRPr/>
          </a:p>
        </p:txBody>
      </p:sp>
      <p:sp>
        <p:nvSpPr>
          <p:cNvPr id="514" name="Google Shape;51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存檔流程：原本需要要先建名片、再上傳照片、再另外呼叫一次寫入自訂連結，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完整</a:t>
            </a:r>
            <a:r>
              <a:rPr lang="en-US" sz="1200">
                <a:solidFill>
                  <a:schemeClr val="dk1"/>
                </a:solidFill>
              </a:rPr>
              <a:t>從跑三趟變成一趟搞定提升效率 </a:t>
            </a:r>
            <a:endParaRPr sz="1200"/>
          </a:p>
        </p:txBody>
      </p:sp>
      <p:sp>
        <p:nvSpPr>
          <p:cNvPr id="556" name="Google Shape;55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圖片是這一版最實際的問題。前端</a:t>
            </a:r>
            <a:r>
              <a:rPr lang="en-US" sz="1200">
                <a:solidFill>
                  <a:schemeClr val="dk1"/>
                </a:solidFill>
              </a:rPr>
              <a:t>資料太肥，每次存檔都在搬磚頭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。更關鍵的是 LINE Flex Message 的圖片只吃公開 HTTPS 網址，用 data URL 大頭照在 LINE 裡根本不會顯示。</a:t>
            </a:r>
            <a:r>
              <a:rPr lang="en-US" sz="1200">
                <a:solidFill>
                  <a:schemeClr val="dk1"/>
                </a:solidFill>
              </a:rPr>
              <a:t>(LINE認不得會破圖 )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所以後端收到 data URL 會解碼上傳到 Storage，資料庫只存網址，並把網址回傳給前端寫回狀態，下次存檔就不會再重傳。物件名稱用圖片內容的 SHA-256，同一張圖不會一直長出新檔案。</a:t>
            </a:r>
            <a:r>
              <a:rPr lang="en-US" sz="1200"/>
              <a:t>(所以蓋ㄇ一座專屬圖庫，以網址自動辨識圖片較不佔空間： )</a:t>
            </a:r>
            <a:endParaRPr sz="1200"/>
          </a:p>
        </p:txBody>
      </p:sp>
      <p:sp>
        <p:nvSpPr>
          <p:cNvPr id="585" name="Google Shape;585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十二支端點，前端實際只用前三支：存檔、讀取、以及公開名片頁用的 legacy 格式讀取</a:t>
            </a:r>
            <a:r>
              <a:rPr lang="en-US" sz="1200">
                <a:solidFill>
                  <a:schemeClr val="dk1"/>
                </a:solidFill>
              </a:rPr>
              <a:t>(相容舊版讀取)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。其餘是除錯與之後擴充用的，包含部分更新、刪除、slug 佔用檢查</a:t>
            </a:r>
            <a:r>
              <a:rPr lang="en-US" sz="1200">
                <a:solidFill>
                  <a:schemeClr val="dk1"/>
                </a:solidFill>
              </a:rPr>
              <a:t>(檢查專屬短網址有沒有被別人搶走)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、multipart 上傳</a:t>
            </a:r>
            <a:r>
              <a:rPr lang="en-US" sz="1200">
                <a:solidFill>
                  <a:schemeClr val="dk1"/>
                </a:solidFill>
              </a:rPr>
              <a:t>(大頭照上傳)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、vCard 匯出</a:t>
            </a:r>
            <a:r>
              <a:rPr lang="en-US" sz="1200">
                <a:solidFill>
                  <a:schemeClr val="dk1"/>
                </a:solidFill>
              </a:rPr>
              <a:t>(打包成通訊錄格式 )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、Flex JSON 檢視</a:t>
            </a:r>
            <a:r>
              <a:rPr lang="en-US" sz="1200">
                <a:solidFill>
                  <a:schemeClr val="dk1"/>
                </a:solidFill>
              </a:rPr>
              <a:t>(預覽 LINE 卡片的設計碼 )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、LINE 推播，還有回傳 LIFF ID 的公開設定端點，讓前端不用把設定寫死。</a:t>
            </a:r>
            <a:r>
              <a:rPr lang="en-US" sz="1200">
                <a:solidFill>
                  <a:schemeClr val="dk1"/>
                </a:solidFill>
              </a:rPr>
              <a:t>(設定廣播站，公開設定端點)</a:t>
            </a:r>
            <a:endParaRPr/>
          </a:p>
        </p:txBody>
      </p:sp>
      <p:sp>
        <p:nvSpPr>
          <p:cNvPr id="615" name="Google Shape;61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 Message 的產生完全照抄前端的名片版型邏輯，所以 LINE 裡看到的名片跟網頁版一致：同樣的版型、同樣的主色、同樣的聯絡列與按鈕。產生前會先檢查這張名片是否開啟 LINE 分享，關閉的話回 403。右邊的框請放 Flex Message Simulator 或實際訊息的截圖。</a:t>
            </a:r>
            <a:endParaRPr/>
          </a:p>
        </p:txBody>
      </p:sp>
      <p:sp>
        <p:nvSpPr>
          <p:cNvPr id="675" name="Google Shape;67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分享流程：使用者在名片頁按下按鈕，開啟 LIFF 網頁登入，前端拿到 userId 後打 line-push，後端用官方帳號的 Channel access token 呼叫 Messaging API 推播。失敗最常見的原因是使用者沒把官方帳號加為好友，這時後端會把 LINE 的 400 或 403 轉成 422，並在訊息裡明確提示要先加好友。</a:t>
            </a:r>
            <a:endParaRPr/>
          </a:p>
        </p:txBody>
      </p:sp>
      <p:sp>
        <p:nvSpPr>
          <p:cNvPr id="705" name="Google Shape;70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3" name="Google Shape;733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測試用假的 Supabase client，不需要網路也不需要真實資料庫，一次跑完 55 項驗證，包含前端原始 payload 能不能存、圖片轉存、欄位對照、版型顏色、Flex Message 結構、vCard 跳脫與各種驗證錯誤碼。另外還有一份手動驗收清單，從後端本身、通道、前端、存檔、上傳照片，一路測到 LINE 真的收到訊息。</a:t>
            </a:r>
            <a:endParaRPr/>
          </a:p>
        </p:txBody>
      </p:sp>
      <p:sp>
        <p:nvSpPr>
          <p:cNvPr id="734" name="Google Shape;734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0" name="Google Shape;76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驗收依 SOW 三條：功能全數定實現、無嚴重缺陷、所有使用者故事通過測試。交付物六項：完整原始碼、資料庫設計、API 文件、使用者手冊、測試報告、部署指南。這也是下一頁部署規劃的前置。</a:t>
            </a:r>
            <a:endParaRPr/>
          </a:p>
        </p:txBody>
      </p:sp>
      <p:sp>
        <p:nvSpPr>
          <p:cNvPr id="761" name="Google Shape;76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5" name="Google Shape;785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收尾：目前前端與資料層都在雲端、網址固定，唯一脆弱的是後端還跑在本機、靠 cloudflared 開通道，網址每次重開都會變，而且視窗一關就失效。三個後續方向：接上前端待補的讀取與三個欄位、把後端部署到 Render 或 Railway、或改用 Cloudflare 的 Named Tunnel 取得固定網址。以上是報告內容，謝謝。</a:t>
            </a:r>
            <a:endParaRPr/>
          </a:p>
        </p:txBody>
      </p:sp>
      <p:sp>
        <p:nvSpPr>
          <p:cNvPr id="786" name="Google Shape;786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f67564b4f7_1_0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g3f67564b4f7_1_0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f67564b4f7_1_11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g3f67564b4f7_1_11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inecome-card.albertyeh0527.workers.dev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hyperlink" Target="https://linecome-card.albertyeh0527.workers.dev/" TargetMode="External"/><Relationship Id="rId7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inecome-card.albertyeh0527.workers.dev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inecome-card.albertyeh0527.workers.dev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inecome-card.albertyeh0527.workers.dev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inecome-card.albertyeh0527.workers.dev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inecome-card.albertyeh0527.workers.dev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inecome-card.albertyeh0527.workers.dev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Relationship Id="rId4" Type="http://schemas.openxmlformats.org/officeDocument/2006/relationships/hyperlink" Target="https://linecome-card.albertyeh0527.workers.dev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1047750" y="1047750"/>
            <a:ext cx="259344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PROJECT REPORT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6229766" y="1047750"/>
            <a:ext cx="1086683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v4.0.0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047750" y="3893463"/>
            <a:ext cx="1714500" cy="19050"/>
          </a:xfrm>
          <a:prstGeom prst="rect">
            <a:avLst/>
          </a:prstGeom>
          <a:solidFill>
            <a:srgbClr val="1E77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047750" y="4236363"/>
            <a:ext cx="17811750" cy="11475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8378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7800"/>
              <a:buFont typeface="Georgia"/>
              <a:buNone/>
            </a:pPr>
            <a:r>
              <a:rPr b="1" i="0" lang="en-US" sz="7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賴哩來 數位名片系統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047750" y="5669637"/>
            <a:ext cx="17811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4A453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4A453D"/>
                </a:solidFill>
                <a:latin typeface="Arial"/>
                <a:ea typeface="Arial"/>
                <a:cs typeface="Arial"/>
                <a:sym typeface="Arial"/>
              </a:rPr>
              <a:t>從 v1 到 v4：架構、LINE 整合 與維運現況的完整總結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47750" y="876681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47750" y="9060180"/>
            <a:ext cx="176022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專案成果報告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5800070" y="9098280"/>
            <a:ext cx="158419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2026 /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5093950" y="8214350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專案概觀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專案概觀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047750" y="3017520"/>
            <a:ext cx="12557760" cy="1106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6094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使用者在網頁編輯器填寫名片內容，系統產生一個公開的名片網址，並且可以透過 LINE 官方帳號把名片以 Flex Message 傳進使用者自己的聊天室。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7750" y="715518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047750" y="7581900"/>
            <a:ext cx="549021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719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1E7777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047750" y="8477250"/>
            <a:ext cx="54902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次存檔完成整張名片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047750" y="9052560"/>
            <a:ext cx="5140833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名片本體、自訂連結、圖片一併處理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648450" y="7581900"/>
            <a:ext cx="549021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719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1E7777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648450" y="8477250"/>
            <a:ext cx="54902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種名片版型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648450" y="9052560"/>
            <a:ext cx="5140833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classic、gold、minimal，可自訂配色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2249150" y="7581900"/>
            <a:ext cx="549021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719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1E7777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2249150" y="8477250"/>
            <a:ext cx="54902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支 API 端點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2249150" y="9052560"/>
            <a:ext cx="5140833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名片 CRUD、上傳、LINE 推播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產品定位與價值主張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47750" y="3017520"/>
            <a:ext cx="14668500" cy="645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629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3300"/>
              <a:buFont typeface="Georgia"/>
              <a:buNone/>
            </a:pPr>
            <a:r>
              <a:rPr b="0" i="0" lang="en-US" sz="33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賴哩來，一鍵切換網頁與 LINE，三分鐘打造你的數位分身。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47750" y="7176135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047750" y="7602855"/>
            <a:ext cx="549021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定位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47750" y="8071485"/>
            <a:ext cx="549021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電子快速名片制作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47750" y="8631555"/>
            <a:ext cx="5140833" cy="8553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4932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免下載、免安裝，填一次資料就有專屬網址與 LINE 名片卡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648450" y="7602855"/>
            <a:ext cx="549021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目標使用者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648450" y="8071485"/>
            <a:ext cx="549021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業務、個人創業者、斜槓族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648450" y="8631555"/>
            <a:ext cx="5140833" cy="8553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4932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需要高頻率自我介紹、並以 LINE 作為主要聯絡工具的使用者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2249150" y="7602855"/>
            <a:ext cx="549021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本期策略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2249150" y="8071485"/>
            <a:ext cx="549021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全功能免費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2249150" y="8631555"/>
            <a:ext cx="5140833" cy="8553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4932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版型全開、不限修改次數、無官方浮水印，以取得使用者數為先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痛點分析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47750" y="3695700"/>
            <a:ext cx="49911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047750" y="3227070"/>
            <a:ext cx="5140833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紙本名片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47750" y="3912870"/>
            <a:ext cx="549021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46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帶不夠、忘記帶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47750" y="4536758"/>
            <a:ext cx="5140833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換公司、升職、改電話，整盒名片就作廢，重印耗時又耗材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47750" y="5588318"/>
            <a:ext cx="5140833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收到的名片需耗費時間手動輸入，交換名片不等於建立人脈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648450" y="3695700"/>
            <a:ext cx="49911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48450" y="3227070"/>
            <a:ext cx="5140833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一般數位名片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648450" y="3912870"/>
            <a:ext cx="549021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46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介面生硬、缺乏温度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648450" y="4536758"/>
            <a:ext cx="5140833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往往只是一張表單網頁，展現不出個人品牌與專業形象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2249150" y="3695700"/>
            <a:ext cx="49911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2249150" y="3227070"/>
            <a:ext cx="5140833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LINE 原生工具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2249150" y="3912870"/>
            <a:ext cx="549021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946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排版與樣式受限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2249150" y="4536758"/>
            <a:ext cx="5140833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官方帳號或群組記事本的版型固定，無法自由展現視覺設計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47750" y="8397240"/>
            <a:ext cx="16192500" cy="105156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398270" y="8770620"/>
            <a:ext cx="150876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本產品的解法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093720" y="8709660"/>
            <a:ext cx="13282196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自訂前端網頁負責視覺自由度，LINE 側以 Flex Message 與 LIFF 負責擴散，兩边共用同一份名片資料。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使用時機與對應入口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47750" y="3714750"/>
            <a:ext cx="1619250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047750" y="3227070"/>
            <a:ext cx="314325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場景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324350" y="3227070"/>
            <a:ext cx="687324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情境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0991850" y="3227070"/>
            <a:ext cx="687324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產品入口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047750" y="468249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047750" y="398907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實體線下社交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324350" y="401955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展會、研討會、商務拜訪，時間緊迫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991850" y="401955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QR Code 全螢展示，對方一掃即開名片頁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47750" y="56502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47750" y="495681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遠距線上會議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324350" y="498729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在會議聊天室留下聯絡方式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0991850" y="498729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貼上專屬短網址 card.html?slug=…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47750" y="661797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47750" y="592455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社群與個人品牌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324350" y="595503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Link in Bio、Email 署名檔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991850" y="595503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名片頁聚合自訂連結，一條網址入口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047750" y="689229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LINE 聊天室與群組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324350" y="692277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自我介紹、陣生開發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991850" y="6922770"/>
            <a:ext cx="6435852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Flex Message 名片卡，可直接轉傳給好友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核心功能一覽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047750" y="3188970"/>
            <a:ext cx="5118021" cy="22555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341120" y="3463290"/>
            <a:ext cx="498440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341120" y="3874770"/>
            <a:ext cx="49844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名片資料 CRUD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341120" y="4408170"/>
            <a:ext cx="466721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可以隨時自由地新增、查看、修改或刪除自己的內容，掌握個人資訊，不需他人協助。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584871" y="3188970"/>
            <a:ext cx="5118140" cy="22555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878241" y="3463290"/>
            <a:ext cx="49845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878241" y="3874770"/>
            <a:ext cx="4984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即時預覽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878241" y="4408170"/>
            <a:ext cx="466734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輸入同步更新，預覽與公開頁共用同一支渲染程式。確保編輯時的畫面，就是最終結果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2122110" y="3188970"/>
            <a:ext cx="5118140" cy="22555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2415481" y="3463290"/>
            <a:ext cx="49845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2415481" y="3874770"/>
            <a:ext cx="4984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三種名片版型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2415481" y="4408170"/>
            <a:ext cx="466734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classic、gold、minimal，配色/版面可自訂配合場合或個人喜好，選擇搭配專屬配色。 </a:t>
            </a:r>
            <a:endParaRPr b="0" i="0" sz="1875" u="none" cap="none" strike="noStrike">
              <a:solidFill>
                <a:srgbClr val="6B64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47750" y="5787390"/>
            <a:ext cx="5118021" cy="22555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341120" y="6061710"/>
            <a:ext cx="4984409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341120" y="6473190"/>
            <a:ext cx="49844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自訂連結聚合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341120" y="7006590"/>
            <a:ext cx="466721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連接需要網站、Facebook、Instagram、LinkedIn 可排序，增加曝光度。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584871" y="5787390"/>
            <a:ext cx="5118140" cy="22555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878241" y="6061710"/>
            <a:ext cx="49845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878241" y="6473190"/>
            <a:ext cx="4984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vCard 匯出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878241" y="7006590"/>
            <a:ext cx="466734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依 RFC 6350 組出 .vcf，手機一鍵存入通訊錄</a:t>
            </a:r>
            <a:r>
              <a:rPr b="0" i="0" lang="en-US" sz="1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，一建發送個人資訊，省去手動輸入麻煩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2122110" y="5787390"/>
            <a:ext cx="5118140" cy="2255520"/>
          </a:xfrm>
          <a:prstGeom prst="rect">
            <a:avLst/>
          </a:prstGeom>
          <a:solidFill>
            <a:srgbClr val="211F1B"/>
          </a:solidFill>
          <a:ln cap="flat" cmpd="sng" w="9525">
            <a:solidFill>
              <a:srgbClr val="211F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2415481" y="6061710"/>
            <a:ext cx="49845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B6B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7B6B6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2415481" y="6473190"/>
            <a:ext cx="4984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LINE 整合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279525" y="6884675"/>
            <a:ext cx="4803300" cy="17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C9C1B0"/>
              </a:buClr>
              <a:buSzPts val="1875"/>
              <a:buFont typeface="Arial"/>
              <a:buNone/>
            </a:pPr>
            <a:r>
              <a:rPr b="0" i="0" lang="en-US" sz="1400" u="none" cap="none" strike="noStrike">
                <a:solidFill>
                  <a:srgbClr val="C9C1B0"/>
                </a:solidFill>
                <a:latin typeface="Arial"/>
                <a:ea typeface="Arial"/>
                <a:cs typeface="Arial"/>
                <a:sym typeface="Arial"/>
              </a:rPr>
              <a:t>Flex Message 推播、LIFF 登入與轉發。</a:t>
            </a:r>
            <a:endParaRPr b="0" i="0" sz="1400" u="none" cap="none" strike="noStrike">
              <a:solidFill>
                <a:srgbClr val="C9C1B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C9C1B0"/>
              </a:buClr>
              <a:buSzPts val="1875"/>
              <a:buFont typeface="Arial"/>
              <a:buNone/>
            </a:pPr>
            <a:r>
              <a:rPr b="0" i="0" lang="en-US" sz="1400" u="none" cap="none" strike="noStrike">
                <a:solidFill>
                  <a:srgbClr val="C9C1B0"/>
                </a:solidFill>
                <a:latin typeface="Arial"/>
                <a:ea typeface="Arial"/>
                <a:cs typeface="Arial"/>
                <a:sym typeface="Arial"/>
              </a:rPr>
              <a:t>直接將名片在LINE上轉化為一張精美的大卡片，像傳貼圖一樣快速發送給好友或群組。對方不需下載任何 APP，點開就能直接看。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47750" y="872490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47750" y="9083040"/>
            <a:ext cx="76200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範圍外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057400" y="9037320"/>
            <a:ext cx="9661504" cy="449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Odoo 串接、Google Login、NFC、AI 名片生成、多公司 SaaS、金流與導購結帳。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專案範圍</a:t>
            </a:r>
            <a:endParaRPr b="1" sz="4800">
              <a:solidFill>
                <a:srgbClr val="211F1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t/>
            </a:r>
            <a:endParaRPr b="1" sz="4800">
              <a:solidFill>
                <a:srgbClr val="211F1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47750" y="3657600"/>
            <a:ext cx="8294251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047750" y="3188970"/>
            <a:ext cx="854307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範圍内主線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047750" y="3874770"/>
            <a:ext cx="912367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LINE 端登入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047750" y="4396740"/>
            <a:ext cx="912367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讀取資料並確認改寫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047750" y="4918710"/>
            <a:ext cx="912367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選擇名片版型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47750" y="5440680"/>
            <a:ext cx="912367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生成成果與附註網址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047750" y="5962650"/>
            <a:ext cx="912367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上傳至 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0027801" y="3657600"/>
            <a:ext cx="721233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027801" y="3874770"/>
            <a:ext cx="793356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專案經理 ／ Scrum Master：進度、風險、協調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027801" y="4415790"/>
            <a:ext cx="793356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前端開發：UI 與編輯器實作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027801" y="4956810"/>
            <a:ext cx="793356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後端開發：API、資料庫、LINE 串接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027801" y="5497830"/>
            <a:ext cx="7933563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QA 測試：品質控制與驗收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047750" y="8370570"/>
            <a:ext cx="1619250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047750" y="8682990"/>
            <a:ext cx="41071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7/29–7/31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047750" y="9075420"/>
            <a:ext cx="41071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發想與研發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200650" y="8682990"/>
            <a:ext cx="41071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8/1–8/3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200650" y="9075420"/>
            <a:ext cx="41071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架構、設計系統、環境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353550" y="8682990"/>
            <a:ext cx="41071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8/5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53550" y="9075420"/>
            <a:ext cx="41071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完成 v4 重寫與整合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3506450" y="8682990"/>
            <a:ext cx="410718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8/6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3506450" y="9075420"/>
            <a:ext cx="41071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測試修復、上線準備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07／ 系統設計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47750" y="1885950"/>
            <a:ext cx="1781175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98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350"/>
              <a:buFont typeface="Georgia"/>
              <a:buNone/>
            </a:pPr>
            <a:r>
              <a:rPr b="1" i="0" lang="en-US" sz="435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系統整體架構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47750" y="3379470"/>
            <a:ext cx="33909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47750" y="2967990"/>
            <a:ext cx="3492627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47750" y="3577590"/>
            <a:ext cx="3390900" cy="164973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283970" y="3794760"/>
            <a:ext cx="321030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瀏覽器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283970" y="4278630"/>
            <a:ext cx="3006014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電腦或手機開啟編輯器與名片頁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047750" y="5417820"/>
            <a:ext cx="3390900" cy="164973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283970" y="5634990"/>
            <a:ext cx="321030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LINE App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283970" y="6118860"/>
            <a:ext cx="3006014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官方帳號聊天室、LIFF 分享頁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714875" y="5589270"/>
            <a:ext cx="40005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79E8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314950" y="3379470"/>
            <a:ext cx="33909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314950" y="2967990"/>
            <a:ext cx="3492627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FRONTEND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314950" y="3577590"/>
            <a:ext cx="3390900" cy="12649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551170" y="3794760"/>
            <a:ext cx="321030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名片編輯器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551170" y="4259580"/>
            <a:ext cx="3006014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表單、版型選擇、即時預覽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14950" y="5033010"/>
            <a:ext cx="3390900" cy="12649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551170" y="5250180"/>
            <a:ext cx="321030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公開名片頁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551170" y="5715000"/>
            <a:ext cx="3006014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card.html?slug=…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314950" y="6488430"/>
            <a:ext cx="3390900" cy="12649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551170" y="6705600"/>
            <a:ext cx="321030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LIFF 分享頁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551170" y="7170420"/>
            <a:ext cx="3006014" cy="4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LINE 登入取得 userId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314950" y="7943850"/>
            <a:ext cx="3492627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Cloudflare Workers，網址固定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982075" y="5589270"/>
            <a:ext cx="40005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79E8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9582150" y="2968001"/>
            <a:ext cx="3390900" cy="4684500"/>
          </a:xfrm>
          <a:prstGeom prst="rect">
            <a:avLst/>
          </a:prstGeom>
          <a:solidFill>
            <a:srgbClr val="211F1B"/>
          </a:solidFill>
          <a:ln cap="flat" cmpd="sng" w="9525">
            <a:solidFill>
              <a:srgbClr val="211F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837420" y="3950970"/>
            <a:ext cx="2880360" cy="9525"/>
          </a:xfrm>
          <a:prstGeom prst="rect">
            <a:avLst/>
          </a:prstGeom>
          <a:solidFill>
            <a:srgbClr val="4A45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837420" y="3204210"/>
            <a:ext cx="2966771" cy="670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B6B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7B6B6"/>
                </a:solidFill>
                <a:latin typeface="Courier New"/>
                <a:ea typeface="Courier New"/>
                <a:cs typeface="Courier New"/>
                <a:sym typeface="Courier New"/>
              </a:rPr>
              <a:t>BACKEND ／ FASTAPI v4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837420" y="4110990"/>
            <a:ext cx="316839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路由與 CORS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837420" y="4573905"/>
            <a:ext cx="316839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資料驗證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9837420" y="5036820"/>
            <a:ext cx="316839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欄位對照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9837420" y="5499735"/>
            <a:ext cx="316839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圖片轉存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837420" y="5962650"/>
            <a:ext cx="3168396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Flex 產生器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837420" y="6473190"/>
            <a:ext cx="296677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2353"/>
              </a:lnSpc>
              <a:spcBef>
                <a:spcPts val="0"/>
              </a:spcBef>
              <a:spcAft>
                <a:spcPts val="0"/>
              </a:spcAft>
              <a:buClr>
                <a:srgbClr val="D4937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D49375"/>
                </a:solidFill>
                <a:latin typeface="Courier New"/>
                <a:ea typeface="Courier New"/>
                <a:cs typeface="Courier New"/>
                <a:sym typeface="Courier New"/>
              </a:rPr>
              <a:t>本機執行 cloudflared 通道對外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3249275" y="5589270"/>
            <a:ext cx="40005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A79E8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3849350" y="3417570"/>
            <a:ext cx="33909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3849350" y="2967990"/>
            <a:ext cx="3492627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DATA ／ EXTERNAL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3849350" y="3615690"/>
            <a:ext cx="3390900" cy="115443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4085570" y="3832860"/>
            <a:ext cx="321030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POSTGRES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4085570" y="4206240"/>
            <a:ext cx="321030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973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users ／ card_links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3849350" y="4960620"/>
            <a:ext cx="3390900" cy="115443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4085570" y="5177790"/>
            <a:ext cx="321030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STORAGE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4085570" y="5551170"/>
            <a:ext cx="321030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973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avatars bucket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3849350" y="6305550"/>
            <a:ext cx="3390900" cy="115443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4085570" y="6522720"/>
            <a:ext cx="321030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LINE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4085570" y="6896100"/>
            <a:ext cx="3210306" cy="3848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973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Messaging API ／ LIFF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47750" y="885444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47750" y="9090660"/>
            <a:ext cx="16678275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前端以 HTTPS 呼叫後端 REST API，後端再以 SDK 存取 Supabase、呼叫 LINE 平台；圖片轉存 Storage 只留網址，前端不接觸金鑰。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系統設計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使用者流程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047750" y="3360420"/>
            <a:ext cx="2979420" cy="15240"/>
          </a:xfrm>
          <a:prstGeom prst="rect">
            <a:avLst/>
          </a:prstGeom>
          <a:solidFill>
            <a:srgbClr val="1E77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047750" y="3604260"/>
            <a:ext cx="327736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047750" y="4114800"/>
            <a:ext cx="32773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11F1B"/>
                </a:solidFill>
              </a:rPr>
              <a:t>使用者LINE登入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047750" y="4732020"/>
            <a:ext cx="306880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6B6459"/>
                </a:solidFill>
              </a:rPr>
              <a:t>手機或網頁端登入，抓取預設基本資料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351020" y="3360420"/>
            <a:ext cx="2979420" cy="15240"/>
          </a:xfrm>
          <a:prstGeom prst="rect">
            <a:avLst/>
          </a:prstGeom>
          <a:solidFill>
            <a:srgbClr val="1E77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351020" y="3604260"/>
            <a:ext cx="327736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351020" y="4114800"/>
            <a:ext cx="32775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11F1B"/>
                </a:solidFill>
              </a:rPr>
              <a:t>填寫名片內容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351020" y="4732020"/>
            <a:ext cx="306880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6B6459"/>
                </a:solidFill>
              </a:rPr>
              <a:t>選版型、配色、上傳大頭照與自訂連結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654290" y="3360420"/>
            <a:ext cx="2979420" cy="15240"/>
          </a:xfrm>
          <a:prstGeom prst="rect">
            <a:avLst/>
          </a:prstGeom>
          <a:solidFill>
            <a:srgbClr val="1E77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654290" y="3604260"/>
            <a:ext cx="327736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654290" y="4114800"/>
            <a:ext cx="32773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11F1B"/>
                </a:solidFill>
              </a:rPr>
              <a:t>按下儲存名片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654290" y="4732020"/>
            <a:ext cx="306880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6B6459"/>
                </a:solidFill>
              </a:rPr>
              <a:t>一次 POST 送出完整名片與 links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0957560" y="3360420"/>
            <a:ext cx="2979420" cy="15240"/>
          </a:xfrm>
          <a:prstGeom prst="rect">
            <a:avLst/>
          </a:prstGeom>
          <a:solidFill>
            <a:srgbClr val="1E77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0957560" y="3604260"/>
            <a:ext cx="327736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0957560" y="4114800"/>
            <a:ext cx="32773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取得名片網址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0957560" y="4732020"/>
            <a:ext cx="306880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card.html?slug=xxx，可下載 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4260831" y="3360420"/>
            <a:ext cx="2979420" cy="15240"/>
          </a:xfrm>
          <a:prstGeom prst="rect">
            <a:avLst/>
          </a:prstGeom>
          <a:solidFill>
            <a:srgbClr val="8F5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4260831" y="3604260"/>
            <a:ext cx="3277362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4260831" y="4114800"/>
            <a:ext cx="3277362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傳到 LINE 聊天室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4260831" y="4732020"/>
            <a:ext cx="306880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LIFF 登入後由官方帳號推播 Flex Message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047750" y="8359140"/>
            <a:ext cx="16192500" cy="108966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417320" y="8751570"/>
            <a:ext cx="99060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前提條件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674620" y="8690610"/>
            <a:ext cx="1044371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第 5 步要成功，使用者必須先把官方帳號加為好友，否則 LINE 平台會拒絕推播。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47750" y="952500"/>
            <a:ext cx="306283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使用者流程與畫面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前端畫面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532375" y="3036570"/>
            <a:ext cx="5658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編輯器：基本資料與即時預覽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532375" y="3562345"/>
            <a:ext cx="5658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編輯器：LINE 分享、自訂連結與 slug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532450" y="4174895"/>
            <a:ext cx="5658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公開名片頁：card.html?slug=…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4650" y="1678300"/>
            <a:ext cx="10265150" cy="827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047750" y="952500"/>
            <a:ext cx="306283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使用者流程與畫面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047750" y="1962150"/>
            <a:ext cx="1781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名片版型與版面設定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7498" y="2620981"/>
            <a:ext cx="4860000" cy="751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475" y="2751339"/>
            <a:ext cx="4860000" cy="7383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62025" y="2620975"/>
            <a:ext cx="5111400" cy="73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 txBox="1"/>
          <p:nvPr/>
        </p:nvSpPr>
        <p:spPr>
          <a:xfrm>
            <a:off x="14976975" y="1696375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6"/>
              </a:rPr>
              <a:t>LINK</a:t>
            </a:r>
            <a:endParaRPr sz="2400"/>
          </a:p>
        </p:txBody>
      </p:sp>
      <p:pic>
        <p:nvPicPr>
          <p:cNvPr id="292" name="Google Shape;292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9475" y="2765500"/>
            <a:ext cx="4860000" cy="735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產品規格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1047750" y="1885950"/>
            <a:ext cx="1781175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98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350"/>
              <a:buFont typeface="Georgia"/>
              <a:buNone/>
            </a:pPr>
            <a:r>
              <a:rPr b="1" i="0" lang="en-US" sz="435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資料庫設計：users（名片主檔）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047750" y="3360420"/>
            <a:ext cx="775335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1047750" y="2891790"/>
            <a:ext cx="381079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欄位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816912" y="2891790"/>
            <a:ext cx="4382607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047750" y="395859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1047750" y="352234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816912" y="349186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UUID 主鍵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1047750" y="455676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047750" y="412051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slug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816912" y="409003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專屬短網址代碼（唯一）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1047750" y="515493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047750" y="471868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line_user_id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816912" y="468820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LINE 登入取得，推播用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1047750" y="575310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1047750" y="531685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816912" y="528637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姓名（必填）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047750" y="635127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047750" y="5884545"/>
            <a:ext cx="38107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title ／ company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816912" y="588454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職稱、公司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047750" y="694944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047750" y="651319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816912" y="648271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部門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047750" y="754761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047750" y="7080885"/>
            <a:ext cx="38107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phone ／ email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816912" y="708088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電話、信箱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047750" y="7679055"/>
            <a:ext cx="38107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line_id ／ address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816912" y="767905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LINE ID、地址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9486900" y="3360420"/>
            <a:ext cx="775335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9486900" y="2891790"/>
            <a:ext cx="381079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外觀與系統欄位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3256062" y="2891790"/>
            <a:ext cx="4382607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9486900" y="395859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486900" y="352234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photo_url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13256062" y="349186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大頭照公開網址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9486900" y="455676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486900" y="412051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template_id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3256062" y="409003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版型代號（預設 classic）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9486900" y="515493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9486900" y="471868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theme_color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3256062" y="468820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主色調 HEX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9486900" y="575310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9486900" y="5286375"/>
            <a:ext cx="38107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card_bg ／ card_text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3256062" y="528637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名片底色與文字色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9486900" y="635127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9486900" y="5884545"/>
            <a:ext cx="38107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bg_image ／ logo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3256062" y="588454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背景圖、公司 logo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9486900" y="694944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9486900" y="6482715"/>
            <a:ext cx="38107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avatar_shape ／ orient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3256062" y="648271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大頭照形狀、直式或橫向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9486900" y="7547610"/>
            <a:ext cx="77533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9486900" y="7111365"/>
            <a:ext cx="381079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line_share_enabled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3256062" y="708088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是否開啟 LINE 分享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9486900" y="7679055"/>
            <a:ext cx="38107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edit_token ／ updated_at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3256062" y="7679055"/>
            <a:ext cx="4382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編輯權杖、最後更新時間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14976975" y="1672889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產品規格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047750" y="1924050"/>
            <a:ext cx="1781175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98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350"/>
              <a:buFont typeface="Georgia"/>
              <a:buNone/>
            </a:pPr>
            <a:r>
              <a:rPr b="1" i="0" lang="en-US" sz="435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card_links 與檔案儲存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047750" y="3474720"/>
            <a:ext cx="845820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047750" y="3006090"/>
            <a:ext cx="427076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card_links 欄位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5235059" y="3006090"/>
            <a:ext cx="469798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047750" y="4183380"/>
            <a:ext cx="84582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047750" y="3691890"/>
            <a:ext cx="42707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235059" y="3653790"/>
            <a:ext cx="469798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UUID 主鍵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047750" y="4892040"/>
            <a:ext cx="84582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047750" y="4400550"/>
            <a:ext cx="42707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card_id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235059" y="4362450"/>
            <a:ext cx="469798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外鍵，關聯至 users.id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047750" y="5600700"/>
            <a:ext cx="84582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047750" y="5109210"/>
            <a:ext cx="42707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link_title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235059" y="5071110"/>
            <a:ext cx="469798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按鈕顯示名稱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047750" y="6309360"/>
            <a:ext cx="84582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1047750" y="5817870"/>
            <a:ext cx="42707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link_url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5235059" y="6116008"/>
            <a:ext cx="4698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目標網址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1047750" y="7018020"/>
            <a:ext cx="84582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047750" y="6526530"/>
            <a:ext cx="42707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icon_type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5235059" y="6488430"/>
            <a:ext cx="469798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web、ig、fb、line 等圖示分類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047750" y="7235190"/>
            <a:ext cx="427076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sort_order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235059" y="7197090"/>
            <a:ext cx="469798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顯示順序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10191750" y="3006090"/>
            <a:ext cx="7048500" cy="2279333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10504170" y="3280410"/>
            <a:ext cx="7066026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SUPABASE STORAGE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10504170" y="3691890"/>
            <a:ext cx="70660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avatars bucket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10504170" y="4225290"/>
            <a:ext cx="6616370" cy="823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大頭照、logo、背景圖一律存在同一個公開 bucket，資料庫只存網址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10191750" y="5628323"/>
            <a:ext cx="775335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一對多關聯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10191750" y="6138863"/>
            <a:ext cx="725995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756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一張名片可以挂上任意多條自訂連結，名片刪除時連帶刪除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10191750" y="6886575"/>
            <a:ext cx="775335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內容雜湊與驗證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10191750" y="7397115"/>
            <a:ext cx="725995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756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公開頁面的所有使用者內容都經過 HTML 跳脫，並擋下 javascript: 等不安全的連結協定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 txBox="1"/>
          <p:nvPr/>
        </p:nvSpPr>
        <p:spPr>
          <a:xfrm>
            <a:off x="14976975" y="1696375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產品規格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047750" y="1924050"/>
            <a:ext cx="17811750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6098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350"/>
              <a:buFont typeface="Georgia"/>
              <a:buNone/>
            </a:pPr>
            <a:r>
              <a:rPr b="1" i="0" lang="en-US" sz="435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前端表單欄位與互動規範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047750" y="3474720"/>
            <a:ext cx="8614767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047750" y="3006090"/>
            <a:ext cx="3438846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欄位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402574" y="3006090"/>
            <a:ext cx="209550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型別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6536174" y="3006090"/>
            <a:ext cx="343897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備註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047750" y="4091940"/>
            <a:ext cx="8614767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047750" y="3615690"/>
            <a:ext cx="3438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電話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402574" y="361569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文字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6536174" y="3615690"/>
            <a:ext cx="34389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預設格式提示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1047750" y="4709160"/>
            <a:ext cx="8614767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047750" y="4232910"/>
            <a:ext cx="3438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402574" y="423291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文字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6536174" y="4232910"/>
            <a:ext cx="34389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可空白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047750" y="5326380"/>
            <a:ext cx="8614767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047750" y="4850130"/>
            <a:ext cx="3438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LINE ID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4402574" y="485013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文字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6536174" y="4850130"/>
            <a:ext cx="34389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加好友用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047750" y="5943600"/>
            <a:ext cx="8614767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1047750" y="5467350"/>
            <a:ext cx="3438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地址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4402574" y="546735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文字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536174" y="5467350"/>
            <a:ext cx="34389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線下位置標示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1047750" y="6560820"/>
            <a:ext cx="8614767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1047750" y="6084570"/>
            <a:ext cx="3438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點擊行為設定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4402574" y="608457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3 組 Checkbox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6536174" y="6084570"/>
            <a:ext cx="34389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tel、mailto、地圖連結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1047750" y="7178040"/>
            <a:ext cx="8614767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1047750" y="6701790"/>
            <a:ext cx="3438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網站、FB、IG、LinkedIn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4402574" y="670179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6536174" y="6701790"/>
            <a:ext cx="34389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存入 card_links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1047750" y="7319010"/>
            <a:ext cx="343884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LINE 分享功能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4402574" y="731901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6536174" y="7319010"/>
            <a:ext cx="34389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控制是否可推播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10348317" y="3006090"/>
            <a:ext cx="6891933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10348317" y="3223260"/>
            <a:ext cx="7581126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預覽與公開頁共用渲染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10348317" y="3714750"/>
            <a:ext cx="70986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編輯器看到的與對方打開連結看到的不會有落差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10348317" y="4412456"/>
            <a:ext cx="6891933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10348317" y="4629626"/>
            <a:ext cx="7581126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圖片選檔即上傳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10348317" y="5121116"/>
            <a:ext cx="70986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每張圖只傳一次，存檔時只送公開網址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10348317" y="5818823"/>
            <a:ext cx="6891933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10348317" y="6035993"/>
            <a:ext cx="7581126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錯誤提示具體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10348317" y="6527482"/>
            <a:ext cx="70986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422 會指出是哪一個欄位不合規，而不是只顯示 HTTP 500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10348317" y="7225189"/>
            <a:ext cx="6891933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10348317" y="7442359"/>
            <a:ext cx="7581126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橫向版型無按鈕區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10348317" y="7933849"/>
            <a:ext cx="7098691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空間不足，需要分享鈕與自訂連結請用直式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 txBox="1"/>
          <p:nvPr/>
        </p:nvSpPr>
        <p:spPr>
          <a:xfrm>
            <a:off x="14976975" y="1696375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1047750" y="952500"/>
            <a:ext cx="199661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產品規格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編輯權杖與存取控制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1047750" y="2998470"/>
            <a:ext cx="13342620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4A453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A453D"/>
                </a:solidFill>
                <a:latin typeface="Arial"/>
                <a:ea typeface="Arial"/>
                <a:cs typeface="Arial"/>
                <a:sym typeface="Arial"/>
              </a:rPr>
              <a:t>名片是靠 slug 公開的，本身沒有登入機制；沒有保護的話，任何人知道 slug 就能把名片蓋掉或刪除。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1047750" y="4431030"/>
            <a:ext cx="3790950" cy="259080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1322070" y="4686300"/>
            <a:ext cx="356654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1322070" y="5097780"/>
            <a:ext cx="356654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首次建立發權杖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1322070" y="5585460"/>
            <a:ext cx="333957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後端產生並存入 edit_token，回應帶給前端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181600" y="4431030"/>
            <a:ext cx="3790950" cy="259080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455920" y="4686300"/>
            <a:ext cx="356654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455920" y="5097780"/>
            <a:ext cx="356654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前端本地保存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455920" y="5585460"/>
            <a:ext cx="333957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存在瀏覽器 localStorage，依 slug 分別保管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9315450" y="4431030"/>
            <a:ext cx="3790950" cy="259080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9589770" y="4686300"/>
            <a:ext cx="356654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9589770" y="5097780"/>
            <a:ext cx="356654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寫入必驗權杖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9589770" y="5585460"/>
            <a:ext cx="333957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存檔、部分更新、刪除都要帶回，不對就回 403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13449300" y="4431030"/>
            <a:ext cx="3790950" cy="2590800"/>
          </a:xfrm>
          <a:prstGeom prst="rect">
            <a:avLst/>
          </a:prstGeom>
          <a:solidFill>
            <a:srgbClr val="211F1B"/>
          </a:solidFill>
          <a:ln cap="flat" cmpd="sng" w="9525">
            <a:solidFill>
              <a:srgbClr val="211F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13723620" y="4686300"/>
            <a:ext cx="3566541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937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D49375"/>
                </a:solidFill>
                <a:latin typeface="Courier New"/>
                <a:ea typeface="Courier New"/>
                <a:cs typeface="Courier New"/>
                <a:sym typeface="Courier New"/>
              </a:rPr>
              <a:t>取捨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13723620" y="5135880"/>
            <a:ext cx="356654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權杖綁在這台瀏覽器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13723620" y="5623560"/>
            <a:ext cx="3339579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C9C1B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C9C1B0"/>
                </a:solidFill>
                <a:latin typeface="Arial"/>
                <a:ea typeface="Arial"/>
                <a:cs typeface="Arial"/>
                <a:sym typeface="Arial"/>
              </a:rPr>
              <a:t>換電腦、換瀏覽器或清掉網站資料就只能讀，要跳裝置編輯得先做帳號系統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1047750" y="875919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1047750" y="9090660"/>
            <a:ext cx="99060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升級注意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2286000" y="9052560"/>
            <a:ext cx="10328513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從舊版帶過來的名片 edit_token 是空的，視為尚未認領，第一個成功存檔的人會拿到權杖。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14976975" y="1696375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8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1047750" y="952500"/>
            <a:ext cx="196138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v2 實作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後端模組分工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1047750" y="407289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1047750" y="347472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main.py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3352800" y="3436620"/>
            <a:ext cx="2935796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全部路由與 CORS 設定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9525000" y="407289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9525000" y="347472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schemas.py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11830050" y="3436620"/>
            <a:ext cx="449628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Pydantic 驗證，欄位名對齊新前端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1047750" y="496443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1047750" y="436626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mapping.py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3352800" y="4328160"/>
            <a:ext cx="469392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前端欄位與資料庫欄位的唯一對照表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9525000" y="496443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9525000" y="436626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storage.py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11830050" y="4328160"/>
            <a:ext cx="3873532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data URL 解碼後上傳 Storage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1047750" y="585597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1047750" y="525780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line_flex.py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3352800" y="5219700"/>
            <a:ext cx="2725591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Flex Message 產生器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9525000" y="585597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9525000" y="525780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database.py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11830050" y="5219700"/>
            <a:ext cx="216648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Supabase client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1047750" y="674751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1047750" y="614934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config.py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3352800" y="6111240"/>
            <a:ext cx="205359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環境變數與金鑰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9525000" y="6747510"/>
            <a:ext cx="77152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9525000" y="6149340"/>
            <a:ext cx="2200275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sql/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11830050" y="6111240"/>
            <a:ext cx="2640330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遷移腳本與完整結構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1047750" y="9090660"/>
            <a:ext cx="1781175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舊的 v1 後端原封不動保留，兩版共用同一個資料庫，可並存運作。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14976975" y="1696375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1047750" y="952500"/>
            <a:ext cx="196138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v2 實作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欄位對照與相容性策略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1047750" y="3676650"/>
            <a:ext cx="8122444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1047750" y="3188970"/>
            <a:ext cx="406919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前端欄位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5470922" y="3188970"/>
            <a:ext cx="406919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資料庫欄位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1047750" y="4415790"/>
            <a:ext cx="812244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1047750" y="387477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tel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4899422" y="3874770"/>
            <a:ext cx="495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A79E8C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5470922" y="387477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phone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1047750" y="5154930"/>
            <a:ext cx="812244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1047750" y="461391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4899422" y="4613910"/>
            <a:ext cx="495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A79E8C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5470922" y="461391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1047750" y="5894070"/>
            <a:ext cx="812244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1047750" y="535305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dept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4899422" y="5353050"/>
            <a:ext cx="495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A79E8C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5470922" y="535305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1047750" y="6633210"/>
            <a:ext cx="812244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1047750" y="609219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avatar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4899422" y="6092190"/>
            <a:ext cx="495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A79E8C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5470922" y="609219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photo_url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1047750" y="7372350"/>
            <a:ext cx="812244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1047750" y="683133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accent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4899422" y="6831330"/>
            <a:ext cx="495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A79E8C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5470922" y="683133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theme_color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1047750" y="757047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shareOn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4899422" y="7570470"/>
            <a:ext cx="4953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A79E8C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5470922" y="7570470"/>
            <a:ext cx="4069199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line_share_enabled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9855994" y="3188970"/>
            <a:ext cx="812268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資料庫只加欄位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9855994" y="3764280"/>
            <a:ext cx="7605784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遷移腳本只有 add column if not exists 與放寬限制，可重複執行，不動既有資料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9855994" y="4968240"/>
            <a:ext cx="812268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對照表只有一份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9855994" y="5543550"/>
            <a:ext cx="7605784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所有名稱轉換寫在 mapping.py，任一邊改名只改一個檔案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9855994" y="6326505"/>
            <a:ext cx="8122682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舊名片頁不用改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9855994" y="6901815"/>
            <a:ext cx="7605784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9324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讀取端點加上 format=legacy 就回傳 v1 的原始格式，已部署的 card.html 照舊運作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 txBox="1"/>
          <p:nvPr/>
        </p:nvSpPr>
        <p:spPr>
          <a:xfrm>
            <a:off x="14976975" y="1696375"/>
            <a:ext cx="25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LINK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0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1047750" y="952500"/>
            <a:ext cx="196138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實作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單一端點存檔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047750" y="3227070"/>
            <a:ext cx="1781175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v1：三趟呼叫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1047750" y="3771900"/>
            <a:ext cx="2901315" cy="769620"/>
          </a:xfrm>
          <a:prstGeom prst="rect">
            <a:avLst/>
          </a:prstGeom>
          <a:solidFill>
            <a:srgbClr val="F3EFE6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1341120" y="3989070"/>
            <a:ext cx="240161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POST /api/cards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4139565" y="3935730"/>
            <a:ext cx="381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79E8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4634865" y="3771900"/>
            <a:ext cx="3981450" cy="769620"/>
          </a:xfrm>
          <a:prstGeom prst="rect">
            <a:avLst/>
          </a:prstGeom>
          <a:solidFill>
            <a:srgbClr val="F3EFE6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4928235" y="3989070"/>
            <a:ext cx="3514154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POST /api/upload/photo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8806815" y="3935730"/>
            <a:ext cx="381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79E8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9302115" y="3771900"/>
            <a:ext cx="4907280" cy="769620"/>
          </a:xfrm>
          <a:prstGeom prst="rect">
            <a:avLst/>
          </a:prstGeom>
          <a:solidFill>
            <a:srgbClr val="F3EFE6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9595485" y="3989070"/>
            <a:ext cx="446775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POST /api/cards/{slug}/links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1047750" y="4960620"/>
            <a:ext cx="1781175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v2：一趟完成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1047750" y="5505450"/>
            <a:ext cx="2901315" cy="769620"/>
          </a:xfrm>
          <a:prstGeom prst="rect">
            <a:avLst/>
          </a:prstGeom>
          <a:solidFill>
            <a:srgbClr val="211F1B"/>
          </a:solidFill>
          <a:ln cap="flat" cmpd="sng" w="9525">
            <a:solidFill>
              <a:srgbClr val="211F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1341120" y="5722620"/>
            <a:ext cx="240161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AF7F1"/>
                </a:solidFill>
                <a:latin typeface="Courier New"/>
                <a:ea typeface="Courier New"/>
                <a:cs typeface="Courier New"/>
                <a:sym typeface="Courier New"/>
              </a:rPr>
              <a:t>POST /api/cards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4139565" y="5695950"/>
            <a:ext cx="5808464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完整名片 + 巢狀 links + 圖片，依 slug upsert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1047750" y="8133874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1047750" y="8522494"/>
            <a:ext cx="554600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upsert，不是 insert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1047750" y="9055894"/>
            <a:ext cx="5193075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同一個 slug 反覆存檔都是更新同一張名片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6622971" y="8522494"/>
            <a:ext cx="554613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links 整組覆蓋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6622971" y="9055894"/>
            <a:ext cx="5193198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前端每次送完整清單，順序即顯示順序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12198310" y="8522494"/>
            <a:ext cx="554613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回應帶公開網址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12198310" y="9055894"/>
            <a:ext cx="5193198" cy="4310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322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存檔後直接把 shareUrl 回給前端顯示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1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1047750" y="952500"/>
            <a:ext cx="196138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實作2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圖片轉存與去重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1047750" y="3227070"/>
            <a:ext cx="5041821" cy="19888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1360170" y="3520440"/>
            <a:ext cx="4858679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前端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1360170" y="3989070"/>
            <a:ext cx="48586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base64 data URL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1360170" y="4541520"/>
            <a:ext cx="45494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FileReader 讀檔後夾在 payload 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6051471" y="3973830"/>
            <a:ext cx="60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A79E8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6622971" y="3227070"/>
            <a:ext cx="5041940" cy="1988820"/>
          </a:xfrm>
          <a:prstGeom prst="rect">
            <a:avLst/>
          </a:prstGeom>
          <a:solidFill>
            <a:srgbClr val="211F1B"/>
          </a:solidFill>
          <a:ln cap="flat" cmpd="sng" w="9525">
            <a:solidFill>
              <a:srgbClr val="211F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6935391" y="3520440"/>
            <a:ext cx="485881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B6B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7B6B6"/>
                </a:solidFill>
                <a:latin typeface="Courier New"/>
                <a:ea typeface="Courier New"/>
                <a:cs typeface="Courier New"/>
                <a:sym typeface="Courier New"/>
              </a:rPr>
              <a:t>後端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6935391" y="3989070"/>
            <a:ext cx="48588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7F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AF7F1"/>
                </a:solidFill>
                <a:latin typeface="Arial"/>
                <a:ea typeface="Arial"/>
                <a:cs typeface="Arial"/>
                <a:sym typeface="Arial"/>
              </a:rPr>
              <a:t>解碼、以 SHA-256 命名、上傳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6935391" y="4541520"/>
            <a:ext cx="454961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C9C1B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C9C1B0"/>
                </a:solidFill>
                <a:latin typeface="Arial"/>
                <a:ea typeface="Arial"/>
                <a:cs typeface="Arial"/>
                <a:sym typeface="Arial"/>
              </a:rPr>
              <a:t>avatars bucket，同一張圖只有一份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11626810" y="3973830"/>
            <a:ext cx="60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9E8C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A79E8C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12198310" y="3227070"/>
            <a:ext cx="5041940" cy="1988820"/>
          </a:xfrm>
          <a:prstGeom prst="rect">
            <a:avLst/>
          </a:prstGeom>
          <a:solidFill>
            <a:srgbClr val="FFFDF8"/>
          </a:solidFill>
          <a:ln cap="flat" cmpd="sng" w="9525">
            <a:solidFill>
              <a:srgbClr val="C9C1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12510731" y="3520440"/>
            <a:ext cx="485881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資料庫與回應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12510731" y="3989070"/>
            <a:ext cx="48588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只存公開 HTTPS 網址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12510731" y="4541520"/>
            <a:ext cx="454961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網址回傳前端寫回狀態，不再重傳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1047750" y="757047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1047750" y="7997190"/>
            <a:ext cx="554600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838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3900"/>
              <a:buFont typeface="Georgia"/>
              <a:buNone/>
            </a:pPr>
            <a:r>
              <a:rPr b="1" i="0" lang="en-US" sz="3900" u="none" cap="none" strike="noStrike">
                <a:solidFill>
                  <a:srgbClr val="8F5A41"/>
                </a:solidFill>
                <a:latin typeface="Georgia"/>
                <a:ea typeface="Georgia"/>
                <a:cs typeface="Georgia"/>
                <a:sym typeface="Georgia"/>
              </a:rPr>
              <a:t>8 MB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1047750" y="8625840"/>
            <a:ext cx="5193075" cy="861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三張照片轉 base64 後的 payload 大小，每次存檔重傳一次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6622971" y="7997190"/>
            <a:ext cx="554613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838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3900"/>
              <a:buFont typeface="Georgia"/>
              <a:buNone/>
            </a:pPr>
            <a:r>
              <a:rPr b="1" i="0" lang="en-US" sz="3900" u="none" cap="none" strike="noStrike">
                <a:solidFill>
                  <a:srgbClr val="8F5A41"/>
                </a:solidFill>
                <a:latin typeface="Georgia"/>
                <a:ea typeface="Georgia"/>
                <a:cs typeface="Georgia"/>
                <a:sym typeface="Georgia"/>
              </a:rPr>
              <a:t>查詢膨脹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6622971" y="8625840"/>
            <a:ext cx="5193198" cy="861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text 欄位塞得下，但每次查詢都要把幾 MB 拉出來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12198310" y="7997190"/>
            <a:ext cx="554613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7838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3900"/>
              <a:buFont typeface="Georgia"/>
              <a:buNone/>
            </a:pPr>
            <a:r>
              <a:rPr b="1" i="0" lang="en-US" sz="3900" u="none" cap="none" strike="noStrike">
                <a:solidFill>
                  <a:srgbClr val="8F5A41"/>
                </a:solidFill>
                <a:latin typeface="Georgia"/>
                <a:ea typeface="Georgia"/>
                <a:cs typeface="Georgia"/>
                <a:sym typeface="Georgia"/>
              </a:rPr>
              <a:t>LINE 不吃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12198310" y="8625840"/>
            <a:ext cx="5193198" cy="8610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462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Flex Message 只接受公開 HTTPS 網址，data URL 不會顯示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2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1047750" y="952500"/>
            <a:ext cx="142834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1047750" y="18478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API 端點一覽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1047750" y="3352800"/>
            <a:ext cx="1619250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1047750" y="2884170"/>
            <a:ext cx="136207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METHOD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2590800" y="2884170"/>
            <a:ext cx="788955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10067925" y="2884170"/>
            <a:ext cx="788955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說明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1047750" y="381762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1047750" y="344805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2590800" y="344805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10067925" y="341757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前端存檔，依 slug upsert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1047750" y="428244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1047750" y="391287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2590800" y="391287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10067925" y="388239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前端載入，回 camelCase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1047750" y="474726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1047750" y="437769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2590800" y="437769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/api/cards/{slug}?format=legacy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10067925" y="434721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v1 格式，給既有名片頁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1047750" y="521208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1047750" y="484251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2590800" y="484251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10067925" y="481203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列出所有名片，除錯用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1047750" y="567690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1047750" y="530733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PATCH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2590800" y="530733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10067925" y="527685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部分更新，links 不送即不動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/>
          <p:nvPr/>
        </p:nvSpPr>
        <p:spPr>
          <a:xfrm>
            <a:off x="1047750" y="614172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1047750" y="577215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2"/>
          <p:cNvSpPr/>
          <p:nvPr/>
        </p:nvSpPr>
        <p:spPr>
          <a:xfrm>
            <a:off x="2590800" y="577215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10067925" y="574167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刪除名片，links 連帶刪除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1047750" y="660654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1047750" y="623697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2590800" y="623697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/api/cards/{slug}/exists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2"/>
          <p:cNvSpPr/>
          <p:nvPr/>
        </p:nvSpPr>
        <p:spPr>
          <a:xfrm>
            <a:off x="10067925" y="620649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slug 是否已被占用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1047750" y="707136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1047750" y="670179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2590800" y="670179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/api/upload/photo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10067925" y="667131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multipart 上傳，回公開網址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1047750" y="753618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1047750" y="716661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2590800" y="716661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/api/cards/{slug}/vcard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2"/>
          <p:cNvSpPr/>
          <p:nvPr/>
        </p:nvSpPr>
        <p:spPr>
          <a:xfrm>
            <a:off x="10067925" y="713613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下載 .vcf 匯入通訊錄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1047750" y="800100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1047750" y="763143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2590800" y="763143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/api/cards/{slug}/line-flex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10067925" y="760095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取得 Flex JSON 供驗證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1047750" y="846582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1047750" y="809625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2590800" y="809625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/api/cards/{slug}/line-push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10067925" y="806577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用官方帳號推播名片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1047750" y="8561070"/>
            <a:ext cx="13620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2590800" y="8561070"/>
            <a:ext cx="7889558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211F1B"/>
                </a:solidFill>
                <a:latin typeface="Courier New"/>
                <a:ea typeface="Courier New"/>
                <a:cs typeface="Courier New"/>
                <a:sym typeface="Courier New"/>
              </a:rPr>
              <a:t>/api/config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10067925" y="8530590"/>
            <a:ext cx="78895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回 LIFF ID 等公開設定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3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1047750" y="952500"/>
            <a:ext cx="2293394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LINE 整合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3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Flex Message 產生流程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1047750" y="3150870"/>
            <a:ext cx="865715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3"/>
          <p:cNvSpPr/>
          <p:nvPr/>
        </p:nvSpPr>
        <p:spPr>
          <a:xfrm>
            <a:off x="1047750" y="3459480"/>
            <a:ext cx="361950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1581150" y="3368040"/>
            <a:ext cx="42881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讀取名片與 links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3"/>
          <p:cNvSpPr/>
          <p:nvPr/>
        </p:nvSpPr>
        <p:spPr>
          <a:xfrm>
            <a:off x="1581150" y="3863340"/>
            <a:ext cx="401529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依 slug 一次取齊名片本體與自訂連結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1047750" y="4511040"/>
            <a:ext cx="865715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3"/>
          <p:cNvSpPr/>
          <p:nvPr/>
        </p:nvSpPr>
        <p:spPr>
          <a:xfrm>
            <a:off x="1047750" y="4819650"/>
            <a:ext cx="361950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3"/>
          <p:cNvSpPr/>
          <p:nvPr/>
        </p:nvSpPr>
        <p:spPr>
          <a:xfrm>
            <a:off x="1581150" y="4728210"/>
            <a:ext cx="48419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檢查分享開關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3"/>
          <p:cNvSpPr/>
          <p:nvPr/>
        </p:nvSpPr>
        <p:spPr>
          <a:xfrm>
            <a:off x="1581150" y="5223510"/>
            <a:ext cx="453379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名片關閉 LINE 分享時回 403，不產生訊息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3"/>
          <p:cNvSpPr/>
          <p:nvPr/>
        </p:nvSpPr>
        <p:spPr>
          <a:xfrm>
            <a:off x="1047750" y="5871210"/>
            <a:ext cx="865715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3"/>
          <p:cNvSpPr/>
          <p:nvPr/>
        </p:nvSpPr>
        <p:spPr>
          <a:xfrm>
            <a:off x="1047750" y="6179820"/>
            <a:ext cx="361950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1E7777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3"/>
          <p:cNvSpPr/>
          <p:nvPr/>
        </p:nvSpPr>
        <p:spPr>
          <a:xfrm>
            <a:off x="1581150" y="6088380"/>
            <a:ext cx="55006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照名片版型組出 bubble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3"/>
          <p:cNvSpPr/>
          <p:nvPr/>
        </p:nvSpPr>
        <p:spPr>
          <a:xfrm>
            <a:off x="1581150" y="6583680"/>
            <a:ext cx="51506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版型顏色、大頭照、聯絡列、按鈕與網頁版一致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3"/>
          <p:cNvSpPr/>
          <p:nvPr/>
        </p:nvSpPr>
        <p:spPr>
          <a:xfrm>
            <a:off x="1047750" y="7231380"/>
            <a:ext cx="8657154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3"/>
          <p:cNvSpPr/>
          <p:nvPr/>
        </p:nvSpPr>
        <p:spPr>
          <a:xfrm>
            <a:off x="1047750" y="7539990"/>
            <a:ext cx="361950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3"/>
          <p:cNvSpPr/>
          <p:nvPr/>
        </p:nvSpPr>
        <p:spPr>
          <a:xfrm>
            <a:off x="1581150" y="7448550"/>
            <a:ext cx="569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過濾不合規的動作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3"/>
          <p:cNvSpPr/>
          <p:nvPr/>
        </p:nvSpPr>
        <p:spPr>
          <a:xfrm>
            <a:off x="1581150" y="7943850"/>
            <a:ext cx="533704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LINE 的 uri action 只接受 http、https、line、tel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3"/>
          <p:cNvSpPr/>
          <p:nvPr/>
        </p:nvSpPr>
        <p:spPr>
          <a:xfrm>
            <a:off x="13584854" y="2258320"/>
            <a:ext cx="22632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LINE 中的名片訊息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8" name="Google Shape;698;p23"/>
          <p:cNvPicPr preferRelativeResize="0"/>
          <p:nvPr/>
        </p:nvPicPr>
        <p:blipFill rotWithShape="1">
          <a:blip r:embed="rId3">
            <a:alphaModFix/>
          </a:blip>
          <a:srcRect b="0" l="-3688" r="-3688" t="0"/>
          <a:stretch/>
        </p:blipFill>
        <p:spPr>
          <a:xfrm>
            <a:off x="12449548" y="2731775"/>
            <a:ext cx="4533800" cy="6869394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23"/>
          <p:cNvSpPr/>
          <p:nvPr/>
        </p:nvSpPr>
        <p:spPr>
          <a:xfrm>
            <a:off x="1047750" y="879729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3"/>
          <p:cNvSpPr/>
          <p:nvPr/>
        </p:nvSpPr>
        <p:spPr>
          <a:xfrm>
            <a:off x="1047750" y="9090660"/>
            <a:ext cx="53340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取捨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3"/>
          <p:cNvSpPr/>
          <p:nvPr/>
        </p:nvSpPr>
        <p:spPr>
          <a:xfrm>
            <a:off x="1809750" y="9052560"/>
            <a:ext cx="10692491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mailto 不被接受，所以 Email 在 LINE 訊息裡照樣顯示文字，但不可點擊；名片網頁不受影響。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4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4"/>
          <p:cNvSpPr/>
          <p:nvPr/>
        </p:nvSpPr>
        <p:spPr>
          <a:xfrm>
            <a:off x="1047750" y="952500"/>
            <a:ext cx="2293394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LINE 整合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4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4"/>
          <p:cNvSpPr/>
          <p:nvPr/>
        </p:nvSpPr>
        <p:spPr>
          <a:xfrm>
            <a:off x="1047750" y="1885950"/>
            <a:ext cx="1198626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LIFF 分享流程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4"/>
          <p:cNvSpPr/>
          <p:nvPr/>
        </p:nvSpPr>
        <p:spPr>
          <a:xfrm>
            <a:off x="1047750" y="2998470"/>
            <a:ext cx="108966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4"/>
          <p:cNvSpPr/>
          <p:nvPr/>
        </p:nvSpPr>
        <p:spPr>
          <a:xfrm>
            <a:off x="1047750" y="3211830"/>
            <a:ext cx="178117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01 名片頁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2914650" y="3158490"/>
            <a:ext cx="3168003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按下「傳到我的 LINE」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1047750" y="3707130"/>
            <a:ext cx="108966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4"/>
          <p:cNvSpPr/>
          <p:nvPr/>
        </p:nvSpPr>
        <p:spPr>
          <a:xfrm>
            <a:off x="1047750" y="3950970"/>
            <a:ext cx="178117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02 LIFF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4"/>
          <p:cNvSpPr/>
          <p:nvPr/>
        </p:nvSpPr>
        <p:spPr>
          <a:xfrm>
            <a:off x="2914650" y="3867150"/>
            <a:ext cx="324056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LINE 登入並取得 userId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1047750" y="4415790"/>
            <a:ext cx="108966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4"/>
          <p:cNvSpPr/>
          <p:nvPr/>
        </p:nvSpPr>
        <p:spPr>
          <a:xfrm>
            <a:off x="1047750" y="4629150"/>
            <a:ext cx="178117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03 後端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4"/>
          <p:cNvSpPr/>
          <p:nvPr/>
        </p:nvSpPr>
        <p:spPr>
          <a:xfrm>
            <a:off x="2914650" y="4575810"/>
            <a:ext cx="4012359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帶 token 呼叫 Messaging API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4"/>
          <p:cNvSpPr/>
          <p:nvPr/>
        </p:nvSpPr>
        <p:spPr>
          <a:xfrm>
            <a:off x="1047750" y="5833110"/>
            <a:ext cx="108966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4"/>
          <p:cNvSpPr/>
          <p:nvPr/>
        </p:nvSpPr>
        <p:spPr>
          <a:xfrm>
            <a:off x="1047750" y="5124450"/>
            <a:ext cx="108966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4"/>
          <p:cNvSpPr/>
          <p:nvPr/>
        </p:nvSpPr>
        <p:spPr>
          <a:xfrm>
            <a:off x="1047750" y="5337810"/>
            <a:ext cx="178117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04 聊天室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4"/>
          <p:cNvSpPr/>
          <p:nvPr/>
        </p:nvSpPr>
        <p:spPr>
          <a:xfrm>
            <a:off x="2914650" y="5284470"/>
            <a:ext cx="303847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官方帳號推播名片訊息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4"/>
          <p:cNvSpPr/>
          <p:nvPr/>
        </p:nvSpPr>
        <p:spPr>
          <a:xfrm>
            <a:off x="1047750" y="6278880"/>
            <a:ext cx="1198626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LIFF Endpoint 已固定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4"/>
          <p:cNvSpPr/>
          <p:nvPr/>
        </p:nvSpPr>
        <p:spPr>
          <a:xfrm>
            <a:off x="1047750" y="6770370"/>
            <a:ext cx="1122349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指向 Cloudflare 上的固定前端網址，不随後端變動；LIFF ID 由後端的 config 端點提供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4"/>
          <p:cNvSpPr/>
          <p:nvPr/>
        </p:nvSpPr>
        <p:spPr>
          <a:xfrm>
            <a:off x="1047750" y="7418070"/>
            <a:ext cx="1198626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錯誤訊息可讀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4"/>
          <p:cNvSpPr/>
          <p:nvPr/>
        </p:nvSpPr>
        <p:spPr>
          <a:xfrm>
            <a:off x="1047750" y="7909560"/>
            <a:ext cx="1122349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889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LINE 回 400 或 403 時轉成 422，明確提示先加好友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4"/>
          <p:cNvSpPr/>
          <p:nvPr/>
        </p:nvSpPr>
        <p:spPr>
          <a:xfrm>
            <a:off x="12477750" y="1885950"/>
            <a:ext cx="276606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LIFF 分享頁與診斷資訊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4"/>
          <p:cNvSpPr/>
          <p:nvPr/>
        </p:nvSpPr>
        <p:spPr>
          <a:xfrm>
            <a:off x="12477750" y="2411730"/>
            <a:ext cx="4791075" cy="7724775"/>
          </a:xfrm>
          <a:prstGeom prst="rect">
            <a:avLst/>
          </a:prstGeom>
          <a:solidFill>
            <a:srgbClr val="7F7F7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30" name="Google Shape;730;p24"/>
          <p:cNvPicPr preferRelativeResize="0"/>
          <p:nvPr/>
        </p:nvPicPr>
        <p:blipFill rotWithShape="1">
          <a:blip r:embed="rId3">
            <a:alphaModFix/>
          </a:blip>
          <a:srcRect b="0" l="-16217" r="-16217" t="0"/>
          <a:stretch/>
        </p:blipFill>
        <p:spPr>
          <a:xfrm>
            <a:off x="12477750" y="2411725"/>
            <a:ext cx="4791075" cy="772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5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1047750" y="952500"/>
            <a:ext cx="226314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品質與維運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測試與驗證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1047750" y="3227070"/>
            <a:ext cx="789466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28"/>
              </a:lnSpc>
              <a:spcBef>
                <a:spcPts val="0"/>
              </a:spcBef>
              <a:spcAft>
                <a:spcPts val="0"/>
              </a:spcAft>
              <a:buClr>
                <a:srgbClr val="1E7777"/>
              </a:buClr>
              <a:buSzPts val="11250"/>
              <a:buFont typeface="Georgia"/>
              <a:buNone/>
            </a:pPr>
            <a:r>
              <a:rPr b="1" i="0" lang="en-US" sz="11250" u="none" cap="none" strike="noStrike">
                <a:solidFill>
                  <a:srgbClr val="1E7777"/>
                </a:solidFill>
                <a:latin typeface="Georgia"/>
                <a:ea typeface="Georgia"/>
                <a:cs typeface="Georgia"/>
                <a:sym typeface="Georgia"/>
              </a:rPr>
              <a:t>55</a:t>
            </a:r>
            <a:endParaRPr b="0" i="0" sz="1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1047750" y="4903470"/>
            <a:ext cx="789466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11F1B"/>
                </a:solidFill>
                <a:latin typeface="Arial"/>
                <a:ea typeface="Arial"/>
                <a:cs typeface="Arial"/>
                <a:sym typeface="Arial"/>
              </a:rPr>
              <a:t>項自動驗證，不需網路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1047750" y="5615940"/>
            <a:ext cx="7392277" cy="13496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7115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以假的 Supabase client 跑完整流程：新前端原始 payload 存檔、圖片轉存、欄位對照、版型顏色、Flex Message 結構、、驗證錯誤碼。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8986718" y="3695700"/>
            <a:ext cx="8253412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5"/>
          <p:cNvSpPr/>
          <p:nvPr/>
        </p:nvSpPr>
        <p:spPr>
          <a:xfrm>
            <a:off x="8986718" y="3227070"/>
            <a:ext cx="850101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手動驗收清單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8986718" y="4453890"/>
            <a:ext cx="8253412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5"/>
          <p:cNvSpPr/>
          <p:nvPr/>
        </p:nvSpPr>
        <p:spPr>
          <a:xfrm>
            <a:off x="8986718" y="3884295"/>
            <a:ext cx="85010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後端本機 /docs 打得開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8986718" y="5212080"/>
            <a:ext cx="8253412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8986718" y="4642485"/>
            <a:ext cx="85010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通道網址 /docs 打得開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8986718" y="5970270"/>
            <a:ext cx="8253412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8986718" y="5400675"/>
            <a:ext cx="85010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前端編輯器正常載入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8986718" y="6728460"/>
            <a:ext cx="8253412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8986718" y="6158865"/>
            <a:ext cx="85010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填表單、儲存名片成功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8986718" y="7486650"/>
            <a:ext cx="8253412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5"/>
          <p:cNvSpPr/>
          <p:nvPr/>
        </p:nvSpPr>
        <p:spPr>
          <a:xfrm>
            <a:off x="8986718" y="6917055"/>
            <a:ext cx="85010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上傳大頭照成功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8986718" y="8244840"/>
            <a:ext cx="8253412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5"/>
          <p:cNvSpPr/>
          <p:nvPr/>
        </p:nvSpPr>
        <p:spPr>
          <a:xfrm>
            <a:off x="8986718" y="7675245"/>
            <a:ext cx="85010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公開名片頁顯示正確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8986718" y="8433435"/>
            <a:ext cx="850101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LINE 聊天室確實收到名片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6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6"/>
          <p:cNvSpPr/>
          <p:nvPr/>
        </p:nvSpPr>
        <p:spPr>
          <a:xfrm>
            <a:off x="1047750" y="952500"/>
            <a:ext cx="226314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品質與維運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6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驗收標準與交付物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6"/>
          <p:cNvSpPr/>
          <p:nvPr/>
        </p:nvSpPr>
        <p:spPr>
          <a:xfrm>
            <a:off x="1047750" y="3695700"/>
            <a:ext cx="771525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6"/>
          <p:cNvSpPr/>
          <p:nvPr/>
        </p:nvSpPr>
        <p:spPr>
          <a:xfrm>
            <a:off x="1047750" y="3227070"/>
            <a:ext cx="794670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驗收標準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6"/>
          <p:cNvSpPr/>
          <p:nvPr/>
        </p:nvSpPr>
        <p:spPr>
          <a:xfrm>
            <a:off x="1047750" y="3931920"/>
            <a:ext cx="8486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所有功能按需求實現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6"/>
          <p:cNvSpPr/>
          <p:nvPr/>
        </p:nvSpPr>
        <p:spPr>
          <a:xfrm>
            <a:off x="1047750" y="4551045"/>
            <a:ext cx="8486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無 AP1 缺陷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6"/>
          <p:cNvSpPr/>
          <p:nvPr/>
        </p:nvSpPr>
        <p:spPr>
          <a:xfrm>
            <a:off x="1047750" y="5170170"/>
            <a:ext cx="8486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813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所有使用者故事通過驗收測試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6"/>
          <p:cNvSpPr/>
          <p:nvPr/>
        </p:nvSpPr>
        <p:spPr>
          <a:xfrm>
            <a:off x="9525000" y="3695700"/>
            <a:ext cx="771525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9525000" y="3227070"/>
            <a:ext cx="7946708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交付物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6"/>
          <p:cNvSpPr/>
          <p:nvPr/>
        </p:nvSpPr>
        <p:spPr>
          <a:xfrm>
            <a:off x="9525000" y="3931920"/>
            <a:ext cx="403383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完整原始碼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6"/>
          <p:cNvSpPr/>
          <p:nvPr/>
        </p:nvSpPr>
        <p:spPr>
          <a:xfrm>
            <a:off x="13573125" y="3931920"/>
            <a:ext cx="403383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資料庫設計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6"/>
          <p:cNvSpPr/>
          <p:nvPr/>
        </p:nvSpPr>
        <p:spPr>
          <a:xfrm>
            <a:off x="9525000" y="4511040"/>
            <a:ext cx="403383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API 文件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13573125" y="4511040"/>
            <a:ext cx="403383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使用者手冊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6"/>
          <p:cNvSpPr/>
          <p:nvPr/>
        </p:nvSpPr>
        <p:spPr>
          <a:xfrm>
            <a:off x="9525000" y="5090160"/>
            <a:ext cx="403383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測試報告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6"/>
          <p:cNvSpPr/>
          <p:nvPr/>
        </p:nvSpPr>
        <p:spPr>
          <a:xfrm>
            <a:off x="13573125" y="5090160"/>
            <a:ext cx="4033838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部署指南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6"/>
          <p:cNvSpPr/>
          <p:nvPr/>
        </p:nvSpPr>
        <p:spPr>
          <a:xfrm>
            <a:off x="1047750" y="875919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6"/>
          <p:cNvSpPr/>
          <p:nvPr/>
        </p:nvSpPr>
        <p:spPr>
          <a:xfrm>
            <a:off x="1047750" y="9090660"/>
            <a:ext cx="99060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5A41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F5A41"/>
                </a:solidFill>
                <a:latin typeface="Courier New"/>
                <a:ea typeface="Courier New"/>
                <a:cs typeface="Courier New"/>
                <a:sym typeface="Courier New"/>
              </a:rPr>
              <a:t>前提變更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2286000" y="9052560"/>
            <a:ext cx="8927783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541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6B6459"/>
                </a:solidFill>
                <a:latin typeface="Arial"/>
                <a:ea typeface="Arial"/>
                <a:cs typeface="Arial"/>
                <a:sym typeface="Arial"/>
              </a:rPr>
              <a:t>前提不成立時於兩個工作日内書面通知，重新評估時間與成本後簽署變更單據。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8"/>
          <p:cNvSpPr/>
          <p:nvPr/>
        </p:nvSpPr>
        <p:spPr>
          <a:xfrm>
            <a:off x="1047750" y="1497330"/>
            <a:ext cx="1619250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8"/>
          <p:cNvSpPr/>
          <p:nvPr/>
        </p:nvSpPr>
        <p:spPr>
          <a:xfrm>
            <a:off x="1047750" y="952500"/>
            <a:ext cx="2263140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品質與維運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8"/>
          <p:cNvSpPr/>
          <p:nvPr/>
        </p:nvSpPr>
        <p:spPr>
          <a:xfrm>
            <a:off x="14908531" y="952500"/>
            <a:ext cx="2564892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賴哩來 數位名片系統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8"/>
          <p:cNvSpPr/>
          <p:nvPr/>
        </p:nvSpPr>
        <p:spPr>
          <a:xfrm>
            <a:off x="1047750" y="1962150"/>
            <a:ext cx="17811750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495"/>
              </a:lnSpc>
              <a:spcBef>
                <a:spcPts val="0"/>
              </a:spcBef>
              <a:spcAft>
                <a:spcPts val="0"/>
              </a:spcAft>
              <a:buClr>
                <a:srgbClr val="211F1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211F1B"/>
                </a:solidFill>
                <a:latin typeface="Georgia"/>
                <a:ea typeface="Georgia"/>
                <a:cs typeface="Georgia"/>
                <a:sym typeface="Georgia"/>
              </a:rPr>
              <a:t>部署現況與後續規劃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8"/>
          <p:cNvSpPr/>
          <p:nvPr/>
        </p:nvSpPr>
        <p:spPr>
          <a:xfrm>
            <a:off x="1047750" y="3188970"/>
            <a:ext cx="8570595" cy="3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已固定，換電腦不受影響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8"/>
          <p:cNvSpPr/>
          <p:nvPr/>
        </p:nvSpPr>
        <p:spPr>
          <a:xfrm>
            <a:off x="1047750" y="3733800"/>
            <a:ext cx="7791450" cy="9525"/>
          </a:xfrm>
          <a:prstGeom prst="rect">
            <a:avLst/>
          </a:prstGeom>
          <a:solidFill>
            <a:srgbClr val="DDD6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8"/>
          <p:cNvSpPr/>
          <p:nvPr/>
        </p:nvSpPr>
        <p:spPr>
          <a:xfrm>
            <a:off x="1047750" y="3950970"/>
            <a:ext cx="857059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前端網址（Cloudflare Workers）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8"/>
          <p:cNvSpPr/>
          <p:nvPr/>
        </p:nvSpPr>
        <p:spPr>
          <a:xfrm>
            <a:off x="1047750" y="4491990"/>
            <a:ext cx="857059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Supabase 資料表與 avatars bucket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8"/>
          <p:cNvSpPr/>
          <p:nvPr/>
        </p:nvSpPr>
        <p:spPr>
          <a:xfrm>
            <a:off x="1047750" y="5033010"/>
            <a:ext cx="8570595" cy="426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A352E"/>
                </a:solidFill>
                <a:latin typeface="Arial"/>
                <a:ea typeface="Arial"/>
                <a:cs typeface="Arial"/>
                <a:sym typeface="Arial"/>
              </a:rPr>
              <a:t>LIFF ID 與 Endpoint 設定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8"/>
          <p:cNvSpPr/>
          <p:nvPr/>
        </p:nvSpPr>
        <p:spPr>
          <a:xfrm>
            <a:off x="1047750" y="7638574"/>
            <a:ext cx="16192500" cy="9525"/>
          </a:xfrm>
          <a:prstGeom prst="rect">
            <a:avLst/>
          </a:prstGeom>
          <a:solidFill>
            <a:srgbClr val="211F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1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g3f67564b4f7_1_0" title="二為馬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9155" y="2834438"/>
            <a:ext cx="6627775" cy="55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g3f67564b4f7_1_0"/>
          <p:cNvSpPr txBox="1"/>
          <p:nvPr/>
        </p:nvSpPr>
        <p:spPr>
          <a:xfrm>
            <a:off x="4426925" y="668825"/>
            <a:ext cx="925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67564b4f7_1_0"/>
          <p:cNvSpPr txBox="1"/>
          <p:nvPr/>
        </p:nvSpPr>
        <p:spPr>
          <a:xfrm>
            <a:off x="5047975" y="955450"/>
            <a:ext cx="91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67564b4f7_1_0"/>
          <p:cNvSpPr txBox="1"/>
          <p:nvPr/>
        </p:nvSpPr>
        <p:spPr>
          <a:xfrm>
            <a:off x="2006450" y="1815350"/>
            <a:ext cx="91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67564b4f7_1_0"/>
          <p:cNvSpPr txBox="1"/>
          <p:nvPr/>
        </p:nvSpPr>
        <p:spPr>
          <a:xfrm>
            <a:off x="6516450" y="1815350"/>
            <a:ext cx="52551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官方LINE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f67564b4f7_1_0"/>
          <p:cNvSpPr/>
          <p:nvPr/>
        </p:nvSpPr>
        <p:spPr>
          <a:xfrm>
            <a:off x="1620900" y="968800"/>
            <a:ext cx="22632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／ QRcode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f67564b4f7_1_0"/>
          <p:cNvSpPr txBox="1"/>
          <p:nvPr/>
        </p:nvSpPr>
        <p:spPr>
          <a:xfrm>
            <a:off x="7933050" y="88231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4"/>
              </a:rPr>
              <a:t>LINK</a:t>
            </a:r>
            <a:endParaRPr sz="3600"/>
          </a:p>
        </p:txBody>
      </p:sp>
      <p:sp>
        <p:nvSpPr>
          <p:cNvPr id="809" name="Google Shape;809;g3f67564b4f7_1_0"/>
          <p:cNvSpPr/>
          <p:nvPr/>
        </p:nvSpPr>
        <p:spPr>
          <a:xfrm>
            <a:off x="12183275" y="9088275"/>
            <a:ext cx="3852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FE6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g3f67564b4f7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375" y="2667575"/>
            <a:ext cx="14577450" cy="7332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g3f67564b4f7_1_11"/>
          <p:cNvSpPr txBox="1"/>
          <p:nvPr/>
        </p:nvSpPr>
        <p:spPr>
          <a:xfrm>
            <a:off x="3125075" y="576900"/>
            <a:ext cx="32166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4100"/>
              <a:t>名片紀錄</a:t>
            </a:r>
            <a:endParaRPr b="1" i="0" sz="4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3f67564b4f7_1_11"/>
          <p:cNvSpPr txBox="1"/>
          <p:nvPr/>
        </p:nvSpPr>
        <p:spPr>
          <a:xfrm>
            <a:off x="2161075" y="1496775"/>
            <a:ext cx="14140800" cy="1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短網址需要填寫，不要為預設的就好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67564b4f7_1_11"/>
          <p:cNvSpPr/>
          <p:nvPr/>
        </p:nvSpPr>
        <p:spPr>
          <a:xfrm>
            <a:off x="2338200" y="915600"/>
            <a:ext cx="22632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45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r>
              <a:rPr b="0" i="0" lang="en-US" sz="1800" u="none" cap="none" strike="noStrike">
                <a:solidFill>
                  <a:srgbClr val="6B6459"/>
                </a:solidFill>
                <a:latin typeface="Courier New"/>
                <a:ea typeface="Courier New"/>
                <a:cs typeface="Courier New"/>
                <a:sym typeface="Courier New"/>
              </a:rPr>
              <a:t> ／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2026-08-05T08:47:15Z</dcterms:created>
  <dc:creator>PptxGenJS</dc:creator>
</cp:coreProperties>
</file>